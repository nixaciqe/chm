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ED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82" y="2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EA3AD3-306C-D637-B9A8-70EF70629C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7C42FE5-B4E3-AB58-7AE9-E80C8E57A8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1F1A6D0-463D-C3FD-C4FD-5528D86C0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D6691-6DB6-44CE-AEFB-F1E041DAB233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532100-E4C1-390A-08C4-35886B5C3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08B01DD-4E9E-F42A-89A1-59F6C310C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3FA0C-E26D-407D-8C6E-2A32385F92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3929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A28426-45D5-D5E7-FC2F-3EB64FF79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E10808-7974-8184-9962-0B4A9C2D4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7E303DB-8D80-60D1-04CA-161B33414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D6691-6DB6-44CE-AEFB-F1E041DAB233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275803-282E-E321-9A62-49DCAD0FE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404864E-309F-470B-D9A8-D69974AEA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3FA0C-E26D-407D-8C6E-2A32385F92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4988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2022BD-8706-C988-3353-903FB4E57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1AE7D75-7499-5A45-61DD-83572B15B1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AD1CCA2-16FF-6A48-17A8-591A25E82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D6691-6DB6-44CE-AEFB-F1E041DAB233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3BFDB96-B0D8-D8BE-3E2E-AEF35E55C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D12866-6D8A-DC81-6638-1CD8D0F64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3FA0C-E26D-407D-8C6E-2A32385F92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8071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568552-D822-6326-BF6D-8CA23D821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BE1ABC-EFA3-7E55-C453-3BD600CE48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5605A1E-9866-B823-27EB-73C80026E7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66B95F5-E2B5-2E55-C079-B016DA9D9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D6691-6DB6-44CE-AEFB-F1E041DAB233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24E8AF1-E644-C961-6C20-E144AA12F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31E1AA9-8D02-6BBD-D71A-6F116E18F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3FA0C-E26D-407D-8C6E-2A32385F92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3049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06EE92-41A6-4A04-52B2-03C7BD75E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C1D0A6A-2FBF-6881-35C4-5690D36893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1150E4E-D249-28D3-5280-1FE03AFCAA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455F03F-56CE-8D92-AA22-9ADC9753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2698293-554A-3573-F2B4-AED3F92E56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DA4F5DB-C5F5-9526-5CAA-8795266D6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D6691-6DB6-44CE-AEFB-F1E041DAB233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C9D3BC1-8543-AA23-E5D3-B676A0E36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6E819A2-68E4-9FCA-3DA4-9D13A3872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3FA0C-E26D-407D-8C6E-2A32385F92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7567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101DC5-5ABD-DAE6-942C-744AFEECA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D9E16CF-4D30-8C14-63DC-7A591BC92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D6691-6DB6-44CE-AEFB-F1E041DAB233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74ABF0C-3106-1DB7-0C71-2B824924E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2F52D2E-3E4D-FA0A-ADBB-1EED23498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3FA0C-E26D-407D-8C6E-2A32385F92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9241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4EAD547-DBC2-D659-2D8D-903B5DD6B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D6691-6DB6-44CE-AEFB-F1E041DAB233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27A84E3-5F66-1BAF-D0BB-01DAE5CD9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47B9B4A-8F80-9F17-2A31-0ECFFBB40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3FA0C-E26D-407D-8C6E-2A32385F92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7649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0340C2-108F-A842-6410-24B7B53B3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B2CD1B-94CF-85FA-D4BE-A49FAA084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1255C66-C397-22E7-0F79-C29BE2CF74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727EBB3-F045-61CD-1700-31F5F620C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D6691-6DB6-44CE-AEFB-F1E041DAB233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3C0D693-F7CA-86A2-6FFD-FA0F8E71F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45789C8-47B1-7957-68B1-068D07271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3FA0C-E26D-407D-8C6E-2A32385F92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8928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C9CD7A-23DE-802D-5BF4-12A9D9427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EB486CE-0A6F-0F83-6CBB-512CE8AF5E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DD8DA66-24F3-9351-DA08-50AB26B644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5C94525-F60F-A177-9932-290434BE3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D6691-6DB6-44CE-AEFB-F1E041DAB233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BA362F8-9512-4EBD-1B45-2B74EF772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B3D0F5B-A4F3-039E-7870-797CB1999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3FA0C-E26D-407D-8C6E-2A32385F92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7007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3840AA-FA93-E1CA-392F-92D360FA0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3CB0AB4-7880-1924-4D9A-8D3BD686FB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F9FFCA8-3701-CB5B-BA84-9806DC63D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D6691-6DB6-44CE-AEFB-F1E041DAB233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F68A789-9BAB-DC62-5B97-AC1382A57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AE27FF9-2242-C44B-DC7C-7074E1601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3FA0C-E26D-407D-8C6E-2A32385F92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4263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156BB8C-E6C5-A851-1A88-B1A9BCA7C6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4DD74ED-04CC-6DC6-AB71-87B9F5DCE7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DCB831-D712-C846-E518-5BA6F8B29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D6691-6DB6-44CE-AEFB-F1E041DAB233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6DE179A-D280-FA95-1E3E-849263986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95CA1E-82FE-C1D8-F963-015DE9EE3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3FA0C-E26D-407D-8C6E-2A32385F92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6996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76AD8D-892E-3A8A-F1AB-3FFB0ADAE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AF6681D-5026-ABAD-25EC-19C808690B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95F723-DFFE-5F53-98A2-82A5A61F05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AD6691-6DB6-44CE-AEFB-F1E041DAB233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933E1BA-5B52-B4A5-539C-6B460CA788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C0E223C-9C9F-5F76-371C-D25C012676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63FA0C-E26D-407D-8C6E-2A32385F92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715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651C03-07AE-94A8-2C27-542116660F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Математический тренажер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728BB98-3288-6AFC-0104-9A666278A8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45120" y="5105718"/>
            <a:ext cx="4246880" cy="1655762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Выполнил студент ИСП-41</a:t>
            </a:r>
          </a:p>
          <a:p>
            <a:r>
              <a:rPr lang="ru-RU" dirty="0">
                <a:solidFill>
                  <a:schemeClr val="bg1"/>
                </a:solidFill>
              </a:rPr>
              <a:t>Максутов Э. Ф.</a:t>
            </a:r>
          </a:p>
        </p:txBody>
      </p:sp>
    </p:spTree>
    <p:extLst>
      <p:ext uri="{BB962C8B-B14F-4D97-AF65-F5344CB8AC3E}">
        <p14:creationId xmlns:p14="http://schemas.microsoft.com/office/powerpoint/2010/main" val="600355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7D1AED2-643A-491E-7399-9DEDA8F48220}"/>
              </a:ext>
            </a:extLst>
          </p:cNvPr>
          <p:cNvSpPr/>
          <p:nvPr/>
        </p:nvSpPr>
        <p:spPr>
          <a:xfrm>
            <a:off x="0" y="0"/>
            <a:ext cx="9210675" cy="6858000"/>
          </a:xfrm>
          <a:prstGeom prst="rect">
            <a:avLst/>
          </a:prstGeom>
          <a:solidFill>
            <a:srgbClr val="EDEDE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ED46A0-04EF-CF91-7A57-E6D4F5593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6066"/>
            <a:ext cx="10515600" cy="1325563"/>
          </a:xfrm>
        </p:spPr>
        <p:txBody>
          <a:bodyPr/>
          <a:lstStyle/>
          <a:p>
            <a:r>
              <a:rPr lang="ru-RU" b="1" dirty="0"/>
              <a:t>Почему это полезно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BB8011-5E41-E12F-D551-C9A588518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978025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300000"/>
              </a:lnSpc>
            </a:pPr>
            <a:r>
              <a:rPr lang="ru-RU" dirty="0"/>
              <a:t>Автоматизация навыков счета</a:t>
            </a:r>
          </a:p>
          <a:p>
            <a:pPr>
              <a:lnSpc>
                <a:spcPct val="300000"/>
              </a:lnSpc>
            </a:pPr>
            <a:r>
              <a:rPr lang="ru-RU" dirty="0"/>
              <a:t>Ученики не боятся ошибок</a:t>
            </a:r>
          </a:p>
          <a:p>
            <a:pPr>
              <a:lnSpc>
                <a:spcPct val="300000"/>
              </a:lnSpc>
            </a:pPr>
            <a:r>
              <a:rPr lang="ru-RU" dirty="0"/>
              <a:t>Экономия времени учителя</a:t>
            </a:r>
          </a:p>
        </p:txBody>
      </p:sp>
      <p:pic>
        <p:nvPicPr>
          <p:cNvPr id="1026" name="Picture 2" descr="Несколько советов учителю, как сэкономить время — Дидактор">
            <a:extLst>
              <a:ext uri="{FF2B5EF4-FFF2-40B4-BE49-F238E27FC236}">
                <a16:creationId xmlns:a16="http://schemas.microsoft.com/office/drawing/2014/main" id="{A693E2BB-1571-0881-FDE9-98A9135046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97"/>
          <a:stretch>
            <a:fillRect/>
          </a:stretch>
        </p:blipFill>
        <p:spPr bwMode="auto">
          <a:xfrm>
            <a:off x="5238751" y="2240596"/>
            <a:ext cx="3895090" cy="4475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7986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55F82A2-5297-9470-86E2-5723A27BC5DB}"/>
              </a:ext>
            </a:extLst>
          </p:cNvPr>
          <p:cNvSpPr/>
          <p:nvPr/>
        </p:nvSpPr>
        <p:spPr>
          <a:xfrm>
            <a:off x="0" y="-1"/>
            <a:ext cx="9210675" cy="6858000"/>
          </a:xfrm>
          <a:prstGeom prst="rect">
            <a:avLst/>
          </a:prstGeom>
          <a:solidFill>
            <a:srgbClr val="EDEDE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9ED81B-FEEC-3B53-5556-FDBCC40B7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030"/>
            <a:ext cx="10515600" cy="1325563"/>
          </a:xfrm>
        </p:spPr>
        <p:txBody>
          <a:bodyPr/>
          <a:lstStyle/>
          <a:p>
            <a:r>
              <a:rPr lang="ru-RU" b="1" dirty="0"/>
              <a:t>Почему моя программа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907824-3999-A399-1FAF-B2AB24B3A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005" y="1490344"/>
            <a:ext cx="8372475" cy="459549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dirty="0"/>
              <a:t>Два типа заданий в одной программе</a:t>
            </a:r>
          </a:p>
          <a:p>
            <a:pPr>
              <a:lnSpc>
                <a:spcPct val="100000"/>
              </a:lnSpc>
            </a:pPr>
            <a:r>
              <a:rPr lang="ru-RU" dirty="0"/>
              <a:t>Количество примеров растет со сложностью</a:t>
            </a:r>
          </a:p>
          <a:p>
            <a:pPr>
              <a:lnSpc>
                <a:spcPct val="100000"/>
              </a:lnSpc>
            </a:pPr>
            <a:r>
              <a:rPr lang="ru-RU" dirty="0"/>
              <a:t> Удобный ввод ответа (в режиме «дроби»)</a:t>
            </a:r>
            <a:endParaRPr lang="ru-RU" dirty="0">
              <a:ea typeface="Calibri" panose="020F0502020204030204"/>
              <a:cs typeface="Calibri" panose="020F0502020204030204"/>
            </a:endParaRPr>
          </a:p>
          <a:p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12FD36B-F13B-A47C-4301-DDE0217A19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464" y="3357879"/>
            <a:ext cx="4590143" cy="3429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0F386CF-78D5-CE9B-64C4-125F923BAA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4875" y="3357879"/>
            <a:ext cx="3810532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798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580257D-63E1-EC91-499C-07DE1FC6C1FE}"/>
              </a:ext>
            </a:extLst>
          </p:cNvPr>
          <p:cNvSpPr/>
          <p:nvPr/>
        </p:nvSpPr>
        <p:spPr>
          <a:xfrm>
            <a:off x="0" y="-1"/>
            <a:ext cx="9210675" cy="6858000"/>
          </a:xfrm>
          <a:prstGeom prst="rect">
            <a:avLst/>
          </a:prstGeom>
          <a:solidFill>
            <a:srgbClr val="EDEDE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6D793C-BF17-8570-FD97-6734EE05D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Библиотеки и технологии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C5EE90-CAAA-F5A0-D3D4-221767F0E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5465"/>
            <a:ext cx="8372475" cy="4351338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dirty="0"/>
              <a:t>Tkinter </a:t>
            </a:r>
            <a:r>
              <a:rPr lang="ru-RU" dirty="0"/>
              <a:t>– создает графический интерфейс</a:t>
            </a:r>
            <a:endParaRPr lang="ru-RU" dirty="0"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200000"/>
              </a:lnSpc>
            </a:pPr>
            <a:r>
              <a:rPr lang="en-US" dirty="0"/>
              <a:t>Random –</a:t>
            </a:r>
            <a:r>
              <a:rPr lang="ru-RU" dirty="0"/>
              <a:t> генерирует случайные числа для примеров</a:t>
            </a:r>
            <a:endParaRPr lang="ru-RU" dirty="0"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200000"/>
              </a:lnSpc>
            </a:pPr>
            <a:r>
              <a:rPr lang="en-US" dirty="0"/>
              <a:t>Fraction – </a:t>
            </a:r>
            <a:r>
              <a:rPr lang="ru-RU" dirty="0"/>
              <a:t>работает с дробями</a:t>
            </a:r>
            <a:endParaRPr lang="ru-RU" dirty="0">
              <a:ea typeface="Calibri" panose="020F0502020204030204"/>
              <a:cs typeface="Calibri" panose="020F0502020204030204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9990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420DD50-FF47-F61F-98DE-78BB8C92F90E}"/>
              </a:ext>
            </a:extLst>
          </p:cNvPr>
          <p:cNvSpPr/>
          <p:nvPr/>
        </p:nvSpPr>
        <p:spPr>
          <a:xfrm>
            <a:off x="0" y="-1"/>
            <a:ext cx="9210675" cy="6858000"/>
          </a:xfrm>
          <a:prstGeom prst="rect">
            <a:avLst/>
          </a:prstGeom>
          <a:solidFill>
            <a:srgbClr val="EDEDE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5AB0DB-BF82-C519-6305-FEEB3DBA7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12520" y="250031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2 </a:t>
            </a:r>
            <a:r>
              <a:rPr lang="ru-RU" b="1" dirty="0"/>
              <a:t>режима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F2F4FE-1C93-FE57-A4FC-9CF0B15156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80924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Обычные числа</a:t>
            </a:r>
          </a:p>
        </p:txBody>
      </p:sp>
      <p:pic>
        <p:nvPicPr>
          <p:cNvPr id="9" name="Рисунок 8" descr="Изображение выглядит как Шрифт, белый, диаграмм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F457040-9399-EA4C-9777-5D1DE87F33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652" y="3065895"/>
            <a:ext cx="2680335" cy="209486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CCBAAA8-5388-5410-7908-A09E1189786B}"/>
              </a:ext>
            </a:extLst>
          </p:cNvPr>
          <p:cNvSpPr txBox="1"/>
          <p:nvPr/>
        </p:nvSpPr>
        <p:spPr>
          <a:xfrm>
            <a:off x="6311742" y="1797524"/>
            <a:ext cx="24485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Дроби</a:t>
            </a:r>
          </a:p>
        </p:txBody>
      </p:sp>
      <p:pic>
        <p:nvPicPr>
          <p:cNvPr id="12" name="Рисунок 11" descr="Изображение выглядит как Шрифт, белый, График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687951B-C1F8-3941-6E2D-917E8C1A99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6592" y="3065894"/>
            <a:ext cx="2448560" cy="209486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46459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77E3128-BA15-BA6D-9FB2-390006F961F4}"/>
              </a:ext>
            </a:extLst>
          </p:cNvPr>
          <p:cNvSpPr/>
          <p:nvPr/>
        </p:nvSpPr>
        <p:spPr>
          <a:xfrm>
            <a:off x="0" y="-1"/>
            <a:ext cx="9210675" cy="6858000"/>
          </a:xfrm>
          <a:prstGeom prst="rect">
            <a:avLst/>
          </a:prstGeom>
          <a:solidFill>
            <a:srgbClr val="EDEDE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4DBBAB-735D-D787-091E-ACB3443C8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9210675" cy="1325563"/>
          </a:xfrm>
        </p:spPr>
        <p:txBody>
          <a:bodyPr/>
          <a:lstStyle/>
          <a:p>
            <a:pPr algn="ctr"/>
            <a:r>
              <a:rPr lang="ru-RU" b="1" dirty="0"/>
              <a:t>Темная тема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AD32CC9-B8CD-A3B8-DC5E-FCFCCC05FE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135" t="4524" r="6561" b="9435"/>
          <a:stretch>
            <a:fillRect/>
          </a:stretch>
        </p:blipFill>
        <p:spPr>
          <a:xfrm>
            <a:off x="518160" y="1536539"/>
            <a:ext cx="3507654" cy="530320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CD2EADA-FBB1-200E-C890-35BF714E394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121" b="6951"/>
          <a:stretch>
            <a:fillRect/>
          </a:stretch>
        </p:blipFill>
        <p:spPr>
          <a:xfrm>
            <a:off x="4983604" y="1536539"/>
            <a:ext cx="3658111" cy="5303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872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DFF9ED0-8314-7AD2-447B-B71304F452EF}"/>
              </a:ext>
            </a:extLst>
          </p:cNvPr>
          <p:cNvSpPr/>
          <p:nvPr/>
        </p:nvSpPr>
        <p:spPr>
          <a:xfrm>
            <a:off x="0" y="-1"/>
            <a:ext cx="9210675" cy="6858000"/>
          </a:xfrm>
          <a:prstGeom prst="rect">
            <a:avLst/>
          </a:prstGeom>
          <a:solidFill>
            <a:srgbClr val="EDEDE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3A7885-952B-2E7D-7A87-A42552A0B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Перспективы развития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8297FB-81EF-37E5-95E4-9742F8B8BE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50000"/>
              </a:lnSpc>
            </a:pPr>
            <a:r>
              <a:rPr lang="ru-RU" dirty="0"/>
              <a:t>Новые типы заданий</a:t>
            </a:r>
          </a:p>
          <a:p>
            <a:pPr>
              <a:lnSpc>
                <a:spcPct val="250000"/>
              </a:lnSpc>
            </a:pPr>
            <a:r>
              <a:rPr lang="ru-RU" dirty="0"/>
              <a:t>Система статистики и таблица рекордов</a:t>
            </a:r>
          </a:p>
          <a:p>
            <a:pPr>
              <a:lnSpc>
                <a:spcPct val="250000"/>
              </a:lnSpc>
            </a:pPr>
            <a:r>
              <a:rPr lang="ru-RU" dirty="0"/>
              <a:t>Сохранение прогресса между сессиями</a:t>
            </a:r>
          </a:p>
        </p:txBody>
      </p:sp>
    </p:spTree>
    <p:extLst>
      <p:ext uri="{BB962C8B-B14F-4D97-AF65-F5344CB8AC3E}">
        <p14:creationId xmlns:p14="http://schemas.microsoft.com/office/powerpoint/2010/main" val="2302645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12DD1E-13E9-6E40-F531-0CB4D05C0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2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8800" dirty="0">
                <a:solidFill>
                  <a:schemeClr val="bg1"/>
                </a:solidFill>
              </a:rPr>
              <a:t>Перейдем к проекту!</a:t>
            </a:r>
          </a:p>
        </p:txBody>
      </p:sp>
    </p:spTree>
    <p:extLst>
      <p:ext uri="{BB962C8B-B14F-4D97-AF65-F5344CB8AC3E}">
        <p14:creationId xmlns:p14="http://schemas.microsoft.com/office/powerpoint/2010/main" val="418979563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93</Words>
  <Application>Microsoft Office PowerPoint</Application>
  <PresentationFormat>Широкоэкранный</PresentationFormat>
  <Paragraphs>24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Тема Office</vt:lpstr>
      <vt:lpstr>Математический тренажер</vt:lpstr>
      <vt:lpstr>Почему это полезно</vt:lpstr>
      <vt:lpstr>Почему моя программа</vt:lpstr>
      <vt:lpstr>Библиотеки и технологии</vt:lpstr>
      <vt:lpstr>2 режима</vt:lpstr>
      <vt:lpstr>Темная тема</vt:lpstr>
      <vt:lpstr>Перспективы развития проекта</vt:lpstr>
      <vt:lpstr>Перейдем к проекту!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2026-04-26T19:44:14Z</dcterms:created>
  <dcterms:modified xsi:type="dcterms:W3CDTF">2026-04-26T21:37:21Z</dcterms:modified>
</cp:coreProperties>
</file>